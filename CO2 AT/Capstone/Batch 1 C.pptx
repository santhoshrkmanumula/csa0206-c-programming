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85" y="43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/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endParaRPr lang="en-IN"/>
          </a:p>
        </p:txBody>
      </p:sp>
      <p:sp>
        <p:nvSpPr>
          <p:cNvPr id="1048647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baseline="0" b="1" cap="all"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8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algn="ctr" indent="0" marL="0">
              <a:buNone/>
              <a:defRPr sz="2200">
                <a:solidFill>
                  <a:schemeClr val="tx1"/>
                </a:solidFill>
              </a:defRPr>
            </a:lvl1pPr>
            <a:lvl2pPr algn="ctr" indent="0" marL="457200">
              <a:buNone/>
              <a:defRPr sz="2200"/>
            </a:lvl2pPr>
            <a:lvl3pPr algn="ctr" indent="0" marL="914400">
              <a:buNone/>
              <a:defRPr sz="2200"/>
            </a:lvl3pPr>
            <a:lvl4pPr algn="ctr" indent="0" marL="1371600">
              <a:buNone/>
              <a:defRPr sz="2000"/>
            </a:lvl4pPr>
            <a:lvl5pPr algn="ctr" indent="0" marL="1828800">
              <a:buNone/>
              <a:defRPr sz="2000"/>
            </a:lvl5pPr>
            <a:lvl6pPr algn="ctr" indent="0" marL="2286000">
              <a:buNone/>
              <a:defRPr sz="2000"/>
            </a:lvl6pPr>
            <a:lvl7pPr algn="ctr" indent="0" marL="2743200">
              <a:buNone/>
              <a:defRPr sz="2000"/>
            </a:lvl7pPr>
            <a:lvl8pPr algn="ctr" indent="0" marL="3200400">
              <a:buNone/>
              <a:defRPr sz="2000"/>
            </a:lvl8pPr>
            <a:lvl9pPr algn="ctr" indent="0" marL="3657600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57" name="Straight Connector 7"/>
          <p:cNvCxnSpPr>
            <a:cxnSpLocks/>
          </p:cNvCxnSpPr>
          <p:nvPr/>
        </p:nvCxnSpPr>
        <p:spPr>
          <a:xfrm>
            <a:off x="1978660" y="3733800"/>
            <a:ext cx="8229601" cy="0"/>
          </a:xfrm>
          <a:prstGeom prst="line"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baseline="0" b="0" cap="all" sz="7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0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algn="ctr" indent="0" marL="0">
              <a:buNone/>
              <a:defRPr sz="2200">
                <a:solidFill>
                  <a:schemeClr val="tx1"/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58" name="Straight Connector 6"/>
          <p:cNvCxnSpPr>
            <a:cxnSpLocks/>
          </p:cNvCxnSpPr>
          <p:nvPr/>
        </p:nvCxnSpPr>
        <p:spPr>
          <a:xfrm>
            <a:off x="1981200" y="4020408"/>
            <a:ext cx="8229601" cy="0"/>
          </a:xfrm>
          <a:prstGeom prst="line"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5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6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8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9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1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indent="0" marL="0">
              <a:spcBef>
                <a:spcPts val="0"/>
              </a:spcBef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2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indent="0" marL="0">
              <a:spcBef>
                <a:spcPts val="0"/>
              </a:spcBef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4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9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5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58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b="0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9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indent="0" marL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70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b="0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9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anchor="t" lIns="274320" tIns="182880">
            <a:normAutofit/>
          </a:bodyPr>
          <a:lstStyle>
            <a:lvl1pPr indent="0" marL="0">
              <a:buNone/>
              <a:defRPr sz="28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7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indent="0" marL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7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/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endParaRPr lang="en-IN"/>
          </a:p>
        </p:txBody>
      </p:sp>
      <p:sp>
        <p:nvSpPr>
          <p:cNvPr id="1048577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78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79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104858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4858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182880" latinLnBrk="0" marL="228600" rtl="0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182880" latinLnBrk="0" marL="45720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182880" latinLnBrk="0" marL="73152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182880" latinLnBrk="0" marL="100584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182880" latinLnBrk="0" marL="128016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60000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90000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220000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2500000" rtl="0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hyperlink" Target="https://www.jetir.org/papers/JETIR2107149.pdf?utm_source=chatgpt.com" TargetMode="External"/><Relationship Id="rId2" Type="http://schemas.openxmlformats.org/officeDocument/2006/relationships/hyperlink" Target="https://www.jetir.org/papers/JETIR2210412.pdf?utm_source=chatgpt.com" TargetMode="External"/><Relationship Id="rId3" Type="http://schemas.openxmlformats.org/officeDocument/2006/relationships/hyperlink" Target="https://www.researchgate.net/publication/382088001_LITERATURE_ONLINE_QUIZ_SYSTEM_PROJECT_REPORT?utm_source=chatgpt.com" TargetMode="External"/><Relationship Id="rId4" Type="http://schemas.openxmlformats.org/officeDocument/2006/relationships/hyperlink" Target="https://www.ijisrt.com/online-quiz-management-system-for-institution?utm_source=chatgpt.com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 txBox="1"/>
          <p:nvPr/>
        </p:nvSpPr>
        <p:spPr>
          <a:xfrm>
            <a:off x="1524000" y="486235"/>
            <a:ext cx="9144000" cy="1096547"/>
          </a:xfrm>
          <a:prstGeom prst="rect"/>
        </p:spPr>
        <p:txBody>
          <a:bodyPr>
            <a:normAutofit fontScale="10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b="1" dirty="0" sz="2400"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b="1" dirty="0" sz="2400"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b="1" dirty="0" sz="2400"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b="1" dirty="0" sz="2400"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b="1" dirty="0" sz="2400" lang="en-US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Chennai-602105.</a:t>
            </a:r>
            <a:endParaRPr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6" name="Subtitle 2"/>
          <p:cNvSpPr txBox="1"/>
          <p:nvPr/>
        </p:nvSpPr>
        <p:spPr>
          <a:xfrm>
            <a:off x="1524000" y="2283309"/>
            <a:ext cx="9144000" cy="1958350"/>
          </a:xfrm>
          <a:prstGeom prst="rect"/>
        </p:spPr>
        <p:txBody>
          <a:bodyPr>
            <a:normAutofit lnSpcReduction="10000"/>
          </a:bodyPr>
          <a:lstStyle>
            <a:lvl1pPr algn="l" defTabSz="914400" eaLnBrk="1" hangingPunct="1" indent="-182880" latinLnBrk="0" marL="228600" rtl="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182880" latinLnBrk="0" marL="4572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182880" latinLnBrk="0" marL="73152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182880" latinLnBrk="0" marL="100584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182880" latinLnBrk="0" marL="128016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16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19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22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25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indent="0" marL="45720">
              <a:buNone/>
            </a:pPr>
            <a:r>
              <a:rPr b="1"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CSA0206- C Programming</a:t>
            </a:r>
          </a:p>
          <a:p>
            <a:pPr algn="ctr" indent="0" marL="45720">
              <a:buNone/>
            </a:pPr>
            <a:r>
              <a:rPr b="1"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 Capstone Project on</a:t>
            </a:r>
          </a:p>
          <a:p>
            <a:pPr algn="ctr" indent="0" marL="45720">
              <a:buNone/>
            </a:pPr>
            <a:r>
              <a:rPr b="1"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an Interactive Online Quiz Platform</a:t>
            </a:r>
          </a:p>
        </p:txBody>
      </p:sp>
      <p:pic>
        <p:nvPicPr>
          <p:cNvPr id="2097152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0862522" y="658019"/>
            <a:ext cx="712788" cy="914400"/>
          </a:xfrm>
          <a:prstGeom prst="rect"/>
          <a:noFill/>
        </p:spPr>
      </p:pic>
      <p:pic>
        <p:nvPicPr>
          <p:cNvPr id="2097153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/>
          <a:noFill/>
        </p:spPr>
      </p:pic>
      <p:sp>
        <p:nvSpPr>
          <p:cNvPr id="1048587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US"/>
          </a:p>
        </p:txBody>
      </p:sp>
      <p:sp>
        <p:nvSpPr>
          <p:cNvPr id="1048588" name="Subtitle 2"/>
          <p:cNvSpPr txBox="1"/>
          <p:nvPr/>
        </p:nvSpPr>
        <p:spPr>
          <a:xfrm>
            <a:off x="5928852" y="4756607"/>
            <a:ext cx="5870960" cy="1655762"/>
          </a:xfrm>
          <a:prstGeom prst="rect"/>
        </p:spPr>
        <p:txBody>
          <a:bodyPr bIns="45720" lIns="91440" rIns="91440" rtlCol="0" tIns="45720" vert="horz">
            <a:normAutofit fontScale="95833" lnSpcReduction="10000"/>
          </a:bodyPr>
          <a:lstStyle>
            <a:lvl1pPr algn="ctr" defTabSz="914400" eaLnBrk="1" hangingPunct="1" indent="0" latinLnBrk="0" marL="0" rt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ctr" defTabSz="914400" eaLnBrk="1" hangingPunct="1" indent="0" latinLnBrk="0" marL="4572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ctr" defTabSz="914400" eaLnBrk="1" hangingPunct="1" indent="0" latinLnBrk="0" marL="9144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ctr" defTabSz="914400" eaLnBrk="1" hangingPunct="1" indent="0" latinLnBrk="0" marL="13716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ctr" defTabSz="914400" eaLnBrk="1" hangingPunct="1" indent="0" latinLnBrk="0" marL="18288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ctr" defTabSz="914400" eaLnBrk="1" hangingPunct="1" indent="0" latinLnBrk="0" marL="22860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ctr" defTabSz="914400" eaLnBrk="1" hangingPunct="1" indent="0" latinLnBrk="0" marL="27432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ctr" defTabSz="914400" eaLnBrk="1" hangingPunct="1" indent="0" latinLnBrk="0" marL="32004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ctr" defTabSz="914400" eaLnBrk="1" hangingPunct="1" indent="0" latinLnBrk="0" marL="3657600" rtl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Avs Santhosh RK Murthy (192312043)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 Vijay (192312447)</a:t>
            </a:r>
          </a:p>
          <a:p>
            <a:r>
              <a:rPr dirty="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Pottu</a:t>
            </a: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Ramesh Yadav (192312443)</a:t>
            </a:r>
          </a:p>
        </p:txBody>
      </p:sp>
      <p:sp>
        <p:nvSpPr>
          <p:cNvPr id="1048589" name="TextBox 8"/>
          <p:cNvSpPr txBox="1"/>
          <p:nvPr/>
        </p:nvSpPr>
        <p:spPr>
          <a:xfrm>
            <a:off x="1175657" y="4756607"/>
            <a:ext cx="3461658" cy="76944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2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dirty="0" sz="2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Dr. V. Karpagam</a:t>
            </a:r>
            <a:endParaRPr dirty="0" sz="22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 txBox="1"/>
          <p:nvPr/>
        </p:nvSpPr>
        <p:spPr>
          <a:xfrm>
            <a:off x="1524000" y="584553"/>
            <a:ext cx="9144000" cy="776160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Subtitle 26"/>
          <p:cNvSpPr txBox="1"/>
          <p:nvPr/>
        </p:nvSpPr>
        <p:spPr>
          <a:xfrm>
            <a:off x="723900" y="1219200"/>
            <a:ext cx="10444843" cy="4441371"/>
          </a:xfrm>
          <a:prstGeom prst="rect"/>
        </p:spPr>
        <p:txBody>
          <a:bodyPr>
            <a:noAutofit/>
          </a:bodyPr>
          <a:lstStyle>
            <a:lvl1pPr algn="l" defTabSz="914400" eaLnBrk="1" hangingPunct="1" indent="-182880" latinLnBrk="0" marL="228600" rtl="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182880" latinLnBrk="0" marL="4572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182880" latinLnBrk="0" marL="73152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182880" latinLnBrk="0" marL="100584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182880" latinLnBrk="0" marL="128016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16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19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22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25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 Online Quiz System is a digital platform that allows users to take quizzes or tests through the internet.</a:t>
            </a:r>
          </a:p>
          <a:p>
            <a:pPr algn="just"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the growing demand for remote learning, quick assessments, and automated evaluation systems.</a:t>
            </a:r>
          </a:p>
          <a:p>
            <a:pPr algn="just"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typically includes two roles — Admin (who creates and manages quizzes) and Users/Students (who take the quizzes).</a:t>
            </a:r>
          </a:p>
          <a:p>
            <a:pPr algn="just"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register, log in, take quizzes within a time limit, and receive immediate results and feedback.</a:t>
            </a:r>
          </a:p>
          <a:p>
            <a:pPr algn="just"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manual correction, saves time, improves accessibility, and supports learning anytime, anywhere.</a:t>
            </a:r>
          </a:p>
          <a:p>
            <a:pPr algn="just"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Widely applicable in schools, colleges, coaching institutes, corporate training, and certification platforms.</a:t>
            </a:r>
            <a:endParaRPr dirty="0" sz="20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0863943" y="341443"/>
            <a:ext cx="921657" cy="997499"/>
          </a:xfrm>
          <a:prstGeom prst="rect"/>
          <a:noFill/>
        </p:spPr>
      </p:pic>
      <p:pic>
        <p:nvPicPr>
          <p:cNvPr id="2097155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439143" y="341443"/>
            <a:ext cx="1008055" cy="997499"/>
          </a:xfrm>
          <a:prstGeom prst="rect"/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 txBox="1"/>
          <p:nvPr/>
        </p:nvSpPr>
        <p:spPr>
          <a:xfrm>
            <a:off x="1524000" y="550596"/>
            <a:ext cx="9144000" cy="1096547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3" name="Rectangle 4"/>
          <p:cNvSpPr txBox="1">
            <a:spLocks noChangeArrowheads="1"/>
          </p:cNvSpPr>
          <p:nvPr/>
        </p:nvSpPr>
        <p:spPr bwMode="auto">
          <a:xfrm>
            <a:off x="476250" y="1180582"/>
            <a:ext cx="11239500" cy="4663439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lstStyle>
            <a:lvl1pPr algn="l" defTabSz="914400" eaLnBrk="1" hangingPunct="1" indent="-182880" latinLnBrk="0" marL="228600" rtl="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182880" latinLnBrk="0" marL="4572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182880" latinLnBrk="0" marL="73152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182880" latinLnBrk="0" marL="100584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182880" latinLnBrk="0" marL="128016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16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19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22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25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 indent="-285750" marL="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and simplify quiz management by providing a web-based platform for creating and conducting quizzes.</a:t>
            </a:r>
          </a:p>
          <a:p>
            <a:pPr algn="just" eaLnBrk="0" fontAlgn="base" hangingPunct="0" indent="-342900" marL="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admins to add questions, set time limits, and monitor quiz performance; users can take quizzes and get instant results.</a:t>
            </a:r>
          </a:p>
          <a:p>
            <a:pPr algn="just" eaLnBrk="0" fontAlgn="base" hangingPunct="0" indent="-342900" marL="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Ensures fast evaluation, saves time, reduces manual effort, and promotes a fair assessment process.</a:t>
            </a:r>
          </a:p>
          <a:p>
            <a:pPr algn="just" eaLnBrk="0" fontAlgn="base" hangingPunct="0" indent="-342900" marL="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schools, colleges, corporate training, competitive exam practice, and e-learning platforms.</a:t>
            </a:r>
          </a:p>
          <a:p>
            <a:pPr algn="just" eaLnBrk="0" fontAlgn="base" hangingPunct="0" indent="-342900" marL="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web technologies like HTML, CSS, JavaScript for the frontend, and PHP with MySQL for backend and data management.</a:t>
            </a:r>
            <a:endParaRPr altLang="en-US"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0939462" y="457200"/>
            <a:ext cx="844324" cy="914400"/>
          </a:xfrm>
          <a:prstGeom prst="rect"/>
          <a:noFill/>
        </p:spPr>
      </p:pic>
      <p:pic>
        <p:nvPicPr>
          <p:cNvPr id="2097157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342900" y="373515"/>
            <a:ext cx="909638" cy="900113"/>
          </a:xfrm>
          <a:prstGeom prst="rect"/>
          <a:noFill/>
        </p:spPr>
      </p:pic>
      <p:sp>
        <p:nvSpPr>
          <p:cNvPr id="1048594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Rectangle 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96" name="Rectangle 8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231140" y="243840"/>
            <a:ext cx="11724640" cy="6377939"/>
          </a:xfrm>
          <a:prstGeom prst="rect"/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endParaRPr lang="en-IN"/>
          </a:p>
        </p:txBody>
      </p:sp>
      <p:graphicFrame>
        <p:nvGraphicFramePr>
          <p:cNvPr id="4194304" name="Table 1"/>
          <p:cNvGraphicFramePr>
            <a:graphicFrameLocks noGrp="1"/>
          </p:cNvGraphicFramePr>
          <p:nvPr/>
        </p:nvGraphicFramePr>
        <p:xfrm>
          <a:off x="783760" y="1493053"/>
          <a:ext cx="10619399" cy="47534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6037"/>
                <a:gridCol w="2072258"/>
                <a:gridCol w="1021380"/>
                <a:gridCol w="2892680"/>
                <a:gridCol w="3077044"/>
              </a:tblGrid>
              <a:tr h="491148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Published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 in Our Project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</a:tr>
              <a:tr h="889375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Quiz Management System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Sandeep, M. Tejaswi, J. Hemanth, B. Vennela, D. Pavan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 web server and database, increasing deployment complexity and infrastructure cost. (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"/>
                        </a:rPr>
                        <a:t>JETIR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dirty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system uses local file storage, automatic evaluation, and a menu-driven console interface without requiring a server or database.</a:t>
                      </a:r>
                      <a:endParaRPr b="0" dirty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</a:tr>
              <a:tr h="889375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Quiz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Mohammed Ashfaque, Kabir Selot, Mariyum Siddique, Mahira Fakih, Humza Khhan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designed as an online web examination platform and depends on browser-based access. (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JETIR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provides an offline console-based quiz system with secure login, automatic grading, and persistent file-based storage.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</a:tr>
              <a:tr h="1088489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Online Quiz System Project Report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Kamal Acharya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rule-based evaluation in a web environment and requires additional web technologies and server configuration. (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ResearchGate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implementation is fully written in C using structures, arrays, functions, and file handling, making it simpler and more suitable for academic mini-projects.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</a:tr>
              <a:tr h="1287602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Quiz Management System for Institution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V. S. Prasanna Vasavi, P. Harshavardhan, K. Pavani, V. Jaya Kanth, K. D. S. R. Manohar, M. Nageswararao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1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ReactJS, Spring Boot, and MySQL, which require significant software setup and maintenance. (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IJISRT</a:t>
                      </a:r>
                      <a:r>
                        <a:rPr b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b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b="0" dirty="0" sz="1400" lang="en-IN" strike="noStrike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eliminates the need for web frameworks and databases by providing a portable, low-cost, file-based quiz management system in C.</a:t>
                      </a:r>
                      <a:endParaRPr b="0" dirty="0" sz="1400" i="0" lang="en-IN" strike="noStrike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371" marR="66371" marT="33186" marB="33186" anchor="ctr"/>
                </a:tc>
              </a:tr>
            </a:tbl>
          </a:graphicData>
        </a:graphic>
      </p:graphicFrame>
      <p:sp>
        <p:nvSpPr>
          <p:cNvPr id="1048597" name="Title 1"/>
          <p:cNvSpPr txBox="1"/>
          <p:nvPr/>
        </p:nvSpPr>
        <p:spPr>
          <a:xfrm>
            <a:off x="1524000" y="421467"/>
            <a:ext cx="9144000" cy="1096547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5"/>
          <a:srcRect/>
          <a:stretch>
            <a:fillRect/>
          </a:stretch>
        </p:blipFill>
        <p:spPr bwMode="auto">
          <a:xfrm>
            <a:off x="10970486" y="353241"/>
            <a:ext cx="826274" cy="914400"/>
          </a:xfrm>
          <a:prstGeom prst="rect"/>
          <a:noFill/>
        </p:spPr>
      </p:pic>
      <p:pic>
        <p:nvPicPr>
          <p:cNvPr id="2097159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6"/>
          <a:srcRect/>
          <a:stretch>
            <a:fillRect/>
          </a:stretch>
        </p:blipFill>
        <p:spPr bwMode="auto">
          <a:xfrm>
            <a:off x="458825" y="367528"/>
            <a:ext cx="909638" cy="900113"/>
          </a:xfrm>
          <a:prstGeom prst="rect"/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 txBox="1"/>
          <p:nvPr/>
        </p:nvSpPr>
        <p:spPr>
          <a:xfrm>
            <a:off x="1524000" y="421467"/>
            <a:ext cx="9144000" cy="1096547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0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0970486" y="353241"/>
            <a:ext cx="826274" cy="914400"/>
          </a:xfrm>
          <a:prstGeom prst="rect"/>
          <a:noFill/>
        </p:spPr>
      </p:pic>
      <p:pic>
        <p:nvPicPr>
          <p:cNvPr id="2097161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458825" y="367528"/>
            <a:ext cx="909638" cy="900113"/>
          </a:xfrm>
          <a:prstGeom prst="rect"/>
          <a:noFill/>
        </p:spPr>
      </p:pic>
      <p:sp>
        <p:nvSpPr>
          <p:cNvPr id="1048599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US"/>
          </a:p>
        </p:txBody>
      </p:sp>
      <p:grpSp>
        <p:nvGrpSpPr>
          <p:cNvPr id="31" name="Group 23"/>
          <p:cNvGrpSpPr/>
          <p:nvPr/>
        </p:nvGrpSpPr>
        <p:grpSpPr>
          <a:xfrm>
            <a:off x="3781789" y="1214552"/>
            <a:ext cx="4628421" cy="5221981"/>
            <a:chOff x="3338050" y="843453"/>
            <a:chExt cx="4538692" cy="5875997"/>
          </a:xfrm>
        </p:grpSpPr>
        <p:sp>
          <p:nvSpPr>
            <p:cNvPr id="1048600" name="Rectangle 6"/>
            <p:cNvSpPr/>
            <p:nvPr/>
          </p:nvSpPr>
          <p:spPr>
            <a:xfrm>
              <a:off x="3805083" y="1693266"/>
              <a:ext cx="3382297" cy="786581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dirty="0"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Choose User Type   </a:t>
              </a:r>
            </a:p>
            <a:p>
              <a:pPr algn="ctr"/>
              <a:r>
                <a:rPr dirty="0"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1. Admin       2. User </a:t>
              </a:r>
            </a:p>
          </p:txBody>
        </p:sp>
        <p:sp>
          <p:nvSpPr>
            <p:cNvPr id="1048601" name="Rectangle 7"/>
            <p:cNvSpPr/>
            <p:nvPr/>
          </p:nvSpPr>
          <p:spPr>
            <a:xfrm>
              <a:off x="3382297" y="2941583"/>
              <a:ext cx="1651820" cy="694234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dirty="0"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 Login</a:t>
              </a:r>
            </a:p>
          </p:txBody>
        </p:sp>
        <p:sp>
          <p:nvSpPr>
            <p:cNvPr id="1048602" name="Rectangle 8"/>
            <p:cNvSpPr/>
            <p:nvPr/>
          </p:nvSpPr>
          <p:spPr>
            <a:xfrm>
              <a:off x="6121132" y="2920299"/>
              <a:ext cx="1750142" cy="667914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Login </a:t>
              </a:r>
            </a:p>
          </p:txBody>
        </p:sp>
        <p:sp>
          <p:nvSpPr>
            <p:cNvPr id="1048603" name="Rectangle 9"/>
            <p:cNvSpPr/>
            <p:nvPr/>
          </p:nvSpPr>
          <p:spPr>
            <a:xfrm>
              <a:off x="3382297" y="4212551"/>
              <a:ext cx="1651821" cy="629265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 quiz</a:t>
              </a:r>
              <a:endParaRPr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04" name="Rectangle 10"/>
            <p:cNvSpPr/>
            <p:nvPr/>
          </p:nvSpPr>
          <p:spPr>
            <a:xfrm>
              <a:off x="6121132" y="4106340"/>
              <a:ext cx="1750142" cy="604391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dirty="0"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Attempt Quiz</a:t>
              </a:r>
            </a:p>
          </p:txBody>
        </p:sp>
        <p:sp>
          <p:nvSpPr>
            <p:cNvPr id="1048605" name="Rectangle 11"/>
            <p:cNvSpPr/>
            <p:nvPr/>
          </p:nvSpPr>
          <p:spPr>
            <a:xfrm>
              <a:off x="3338050" y="5372418"/>
              <a:ext cx="1740312" cy="626845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Logout Admin</a:t>
              </a:r>
            </a:p>
          </p:txBody>
        </p:sp>
        <p:sp>
          <p:nvSpPr>
            <p:cNvPr id="1048606" name="Rectangle 12"/>
            <p:cNvSpPr/>
            <p:nvPr/>
          </p:nvSpPr>
          <p:spPr>
            <a:xfrm>
              <a:off x="6126600" y="5058996"/>
              <a:ext cx="1750142" cy="626845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dirty="0"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Show Score </a:t>
              </a:r>
            </a:p>
          </p:txBody>
        </p:sp>
        <p:sp>
          <p:nvSpPr>
            <p:cNvPr id="1048607" name="Rectangle 13"/>
            <p:cNvSpPr/>
            <p:nvPr/>
          </p:nvSpPr>
          <p:spPr>
            <a:xfrm>
              <a:off x="6121132" y="6092605"/>
              <a:ext cx="1750143" cy="626845"/>
            </a:xfrm>
            <a:prstGeom prst="rec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lang="en-IN">
                  <a:latin typeface="Times New Roman" panose="02020603050405020304" pitchFamily="18" charset="0"/>
                  <a:cs typeface="Times New Roman" panose="02020603050405020304" pitchFamily="18" charset="0"/>
                </a:rPr>
                <a:t>Logout </a:t>
              </a:r>
            </a:p>
          </p:txBody>
        </p:sp>
        <p:cxnSp>
          <p:nvCxnSpPr>
            <p:cNvPr id="3145728" name="Straight Arrow Connector 14"/>
            <p:cNvCxnSpPr>
              <a:cxnSpLocks/>
            </p:cNvCxnSpPr>
            <p:nvPr/>
          </p:nvCxnSpPr>
          <p:spPr>
            <a:xfrm>
              <a:off x="5437239" y="1376516"/>
              <a:ext cx="0" cy="316750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29" name="Straight Arrow Connector 15"/>
            <p:cNvCxnSpPr>
              <a:cxnSpLocks/>
            </p:cNvCxnSpPr>
            <p:nvPr/>
          </p:nvCxnSpPr>
          <p:spPr>
            <a:xfrm>
              <a:off x="4208206" y="2479847"/>
              <a:ext cx="0" cy="46173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0" name="Straight Arrow Connector 16"/>
            <p:cNvCxnSpPr>
              <a:cxnSpLocks/>
            </p:cNvCxnSpPr>
            <p:nvPr/>
          </p:nvCxnSpPr>
          <p:spPr>
            <a:xfrm>
              <a:off x="6794090" y="2479847"/>
              <a:ext cx="0" cy="424794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1" name="Straight Arrow Connector 17"/>
            <p:cNvCxnSpPr>
              <a:cxnSpLocks/>
              <a:stCxn id="1048601" idx="2"/>
              <a:endCxn id="1048603" idx="0"/>
            </p:cNvCxnSpPr>
            <p:nvPr/>
          </p:nvCxnSpPr>
          <p:spPr>
            <a:xfrm>
              <a:off x="4208207" y="3635817"/>
              <a:ext cx="1" cy="576734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2" name="Straight Arrow Connector 18"/>
            <p:cNvCxnSpPr>
              <a:cxnSpLocks/>
              <a:stCxn id="1048602" idx="2"/>
              <a:endCxn id="1048604" idx="0"/>
            </p:cNvCxnSpPr>
            <p:nvPr/>
          </p:nvCxnSpPr>
          <p:spPr>
            <a:xfrm>
              <a:off x="6996203" y="3588213"/>
              <a:ext cx="0" cy="518127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3" name="Straight Arrow Connector 19"/>
            <p:cNvCxnSpPr>
              <a:cxnSpLocks/>
              <a:stCxn id="1048604" idx="2"/>
              <a:endCxn id="1048606" idx="0"/>
            </p:cNvCxnSpPr>
            <p:nvPr/>
          </p:nvCxnSpPr>
          <p:spPr>
            <a:xfrm>
              <a:off x="6996203" y="4710731"/>
              <a:ext cx="5468" cy="348265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4" name="Straight Arrow Connector 20"/>
            <p:cNvCxnSpPr>
              <a:cxnSpLocks/>
              <a:stCxn id="1048606" idx="2"/>
              <a:endCxn id="1048607" idx="0"/>
            </p:cNvCxnSpPr>
            <p:nvPr/>
          </p:nvCxnSpPr>
          <p:spPr>
            <a:xfrm flipH="1">
              <a:off x="6996204" y="5685840"/>
              <a:ext cx="5467" cy="406765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5" name="Straight Arrow Connector 21"/>
            <p:cNvCxnSpPr>
              <a:cxnSpLocks/>
              <a:stCxn id="1048603" idx="2"/>
              <a:endCxn id="1048605" idx="0"/>
            </p:cNvCxnSpPr>
            <p:nvPr/>
          </p:nvCxnSpPr>
          <p:spPr>
            <a:xfrm flipH="1">
              <a:off x="4208206" y="4841816"/>
              <a:ext cx="2" cy="530602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8608" name="Oval 22"/>
            <p:cNvSpPr/>
            <p:nvPr/>
          </p:nvSpPr>
          <p:spPr>
            <a:xfrm>
              <a:off x="4635483" y="843453"/>
              <a:ext cx="1603511" cy="604391"/>
            </a:xfrm>
            <a:prstGeom prst="ellipse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 txBox="1"/>
          <p:nvPr/>
        </p:nvSpPr>
        <p:spPr>
          <a:xfrm>
            <a:off x="1588866" y="326815"/>
            <a:ext cx="9144000" cy="900114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sz="5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dirty="0" sz="5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0" name="Subtitle 2"/>
          <p:cNvSpPr txBox="1"/>
          <p:nvPr/>
        </p:nvSpPr>
        <p:spPr>
          <a:xfrm>
            <a:off x="571500" y="548274"/>
            <a:ext cx="11228313" cy="6093826"/>
          </a:xfrm>
          <a:prstGeom prst="rect"/>
        </p:spPr>
        <p:txBody>
          <a:bodyPr>
            <a:normAutofit fontScale="92500" lnSpcReduction="20000"/>
          </a:bodyPr>
          <a:lstStyle>
            <a:lvl1pPr algn="l" defTabSz="914400" eaLnBrk="1" hangingPunct="1" indent="-182880" latinLnBrk="0" marL="228600" rtl="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182880" latinLnBrk="0" marL="4572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182880" latinLnBrk="0" marL="73152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182880" latinLnBrk="0" marL="100584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182880" latinLnBrk="0" marL="128016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16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19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22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25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dirty="0" sz="2800" lang="en-IN">
              <a:solidFill>
                <a:srgbClr val="0070C0"/>
              </a:solidFill>
            </a:endParaRP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Randomization Algorithm :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randomly select and shuffle quiz questions and answer options to ensure each user gets a unique experience.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Timer/Countdown Algorithm: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Implements quiz time limits, ensuring the quiz automatically ends when the time is up.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Scoring Algorithm: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Calculates user scores based on correct answers, time taken, and question weights (if any).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Algorithm: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verify user identity through login credentials.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 Evaluation Algorithm: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Compares submitted answers with the answer key and generates instant results.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Sorting and Filtering Algorithms: 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in the admin panel for sorting quiz attempts by date, score, or user, and filtering reports.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dirty="0" sz="2000" lang="en-US"/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dirty="0" sz="2800" lang="en-US">
              <a:solidFill>
                <a:srgbClr val="0070C0"/>
              </a:solidFill>
            </a:endParaRPr>
          </a:p>
        </p:txBody>
      </p:sp>
      <p:pic>
        <p:nvPicPr>
          <p:cNvPr id="2097162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0983686" y="312529"/>
            <a:ext cx="816127" cy="914400"/>
          </a:xfrm>
          <a:prstGeom prst="rect"/>
          <a:noFill/>
        </p:spPr>
      </p:pic>
      <p:pic>
        <p:nvPicPr>
          <p:cNvPr id="2097163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339614" y="326816"/>
            <a:ext cx="909638" cy="900113"/>
          </a:xfrm>
          <a:prstGeom prst="rect"/>
          <a:noFill/>
        </p:spPr>
      </p:pic>
      <p:sp>
        <p:nvSpPr>
          <p:cNvPr id="1048611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Box 1"/>
          <p:cNvSpPr txBox="1"/>
          <p:nvPr/>
        </p:nvSpPr>
        <p:spPr>
          <a:xfrm>
            <a:off x="1240971" y="320769"/>
            <a:ext cx="9710058" cy="95410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Quiz Database Management</a:t>
            </a:r>
          </a:p>
        </p:txBody>
      </p:sp>
      <p:sp>
        <p:nvSpPr>
          <p:cNvPr id="1048613" name="TextBox 2"/>
          <p:cNvSpPr txBox="1"/>
          <p:nvPr/>
        </p:nvSpPr>
        <p:spPr>
          <a:xfrm>
            <a:off x="522515" y="1639907"/>
            <a:ext cx="8109856" cy="4191981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50000"/>
              </a:lnSpc>
            </a:pPr>
            <a:r>
              <a:rPr b="1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and efficient system to manage users and quiz questions.</a:t>
            </a:r>
          </a:p>
          <a:p>
            <a:pPr>
              <a:lnSpc>
                <a:spcPct val="150000"/>
              </a:lnSpc>
            </a:pPr>
            <a:r>
              <a:rPr b="1"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Design the main menu.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Create user login and registration.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Admin and Student roles.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Create, edit, delete, and view quiz questions.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Store questions using file handling.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Validate user inputs.</a:t>
            </a:r>
          </a:p>
        </p:txBody>
      </p:sp>
      <p:grpSp>
        <p:nvGrpSpPr>
          <p:cNvPr id="34" name="Group 46"/>
          <p:cNvGrpSpPr/>
          <p:nvPr/>
        </p:nvGrpSpPr>
        <p:grpSpPr>
          <a:xfrm>
            <a:off x="8066314" y="1026112"/>
            <a:ext cx="3439878" cy="5437775"/>
            <a:chOff x="7979228" y="1099456"/>
            <a:chExt cx="3439878" cy="5437775"/>
          </a:xfrm>
        </p:grpSpPr>
        <p:sp>
          <p:nvSpPr>
            <p:cNvPr id="1048614" name="Oval 6"/>
            <p:cNvSpPr/>
            <p:nvPr/>
          </p:nvSpPr>
          <p:spPr>
            <a:xfrm>
              <a:off x="9634539" y="1099456"/>
              <a:ext cx="924604" cy="405937"/>
            </a:xfrm>
            <a:prstGeom prst="ellipse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sz="160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  <a:endParaRPr b="1" dirty="0" sz="160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15" name="Flowchart: Data 7"/>
            <p:cNvSpPr/>
            <p:nvPr/>
          </p:nvSpPr>
          <p:spPr>
            <a:xfrm>
              <a:off x="9339941" y="1700889"/>
              <a:ext cx="1513115" cy="555172"/>
            </a:xfrm>
            <a:prstGeom prst="flowChartInputOutpu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sz="160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Login/</a:t>
              </a:r>
            </a:p>
            <a:p>
              <a:pPr algn="ctr"/>
              <a:r>
                <a:rPr b="1" dirty="0" sz="160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register</a:t>
              </a:r>
              <a:endParaRPr b="1" dirty="0" sz="160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16" name="Flowchart: Process 8"/>
            <p:cNvSpPr/>
            <p:nvPr/>
          </p:nvSpPr>
          <p:spPr>
            <a:xfrm>
              <a:off x="9269184" y="2596395"/>
              <a:ext cx="1513114" cy="522514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Authenticate User</a:t>
              </a:r>
              <a:endParaRPr b="1"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17" name="Flowchart: Decision 9"/>
            <p:cNvSpPr/>
            <p:nvPr/>
          </p:nvSpPr>
          <p:spPr>
            <a:xfrm>
              <a:off x="9198426" y="3508529"/>
              <a:ext cx="1654630" cy="555172"/>
            </a:xfrm>
            <a:prstGeom prst="flowChartDecision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sz="160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Admin?</a:t>
              </a:r>
              <a:endParaRPr b="1" dirty="0" sz="160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18" name="Flowchart: Process 10"/>
            <p:cNvSpPr/>
            <p:nvPr/>
          </p:nvSpPr>
          <p:spPr>
            <a:xfrm>
              <a:off x="8659586" y="4176231"/>
              <a:ext cx="729343" cy="348343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  <a:endParaRPr b="1"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19" name="Flowchart: Process 14"/>
            <p:cNvSpPr/>
            <p:nvPr/>
          </p:nvSpPr>
          <p:spPr>
            <a:xfrm>
              <a:off x="7979228" y="4864035"/>
              <a:ext cx="2090056" cy="348343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Manage Questions</a:t>
              </a:r>
              <a:endParaRPr b="1"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20" name="Oval 18"/>
            <p:cNvSpPr/>
            <p:nvPr/>
          </p:nvSpPr>
          <p:spPr>
            <a:xfrm>
              <a:off x="9634539" y="6163423"/>
              <a:ext cx="924604" cy="373808"/>
            </a:xfrm>
            <a:prstGeom prst="ellipse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Exit</a:t>
              </a:r>
              <a:endParaRPr b="1"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8621" name="Flowchart: Data 20"/>
            <p:cNvSpPr/>
            <p:nvPr/>
          </p:nvSpPr>
          <p:spPr>
            <a:xfrm>
              <a:off x="8267699" y="5446883"/>
              <a:ext cx="1513115" cy="555172"/>
            </a:xfrm>
            <a:prstGeom prst="flowChartInputOutpu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Save to file</a:t>
              </a:r>
              <a:endParaRPr b="1"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45736" name="Straight Arrow Connector 22"/>
            <p:cNvCxnSpPr>
              <a:cxnSpLocks/>
              <a:stCxn id="1048614" idx="4"/>
              <a:endCxn id="1048615" idx="1"/>
            </p:cNvCxnSpPr>
            <p:nvPr/>
          </p:nvCxnSpPr>
          <p:spPr>
            <a:xfrm flipH="1">
              <a:off x="10096499" y="1505393"/>
              <a:ext cx="342" cy="19549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7" name="Straight Arrow Connector 23"/>
            <p:cNvCxnSpPr>
              <a:cxnSpLocks/>
              <a:stCxn id="1048618" idx="2"/>
              <a:endCxn id="1048619" idx="0"/>
            </p:cNvCxnSpPr>
            <p:nvPr/>
          </p:nvCxnSpPr>
          <p:spPr>
            <a:xfrm flipH="1">
              <a:off x="9024256" y="4524574"/>
              <a:ext cx="2" cy="339461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8" name="Straight Arrow Connector 24"/>
            <p:cNvCxnSpPr>
              <a:cxnSpLocks/>
              <a:stCxn id="1048617" idx="1"/>
              <a:endCxn id="1048618" idx="0"/>
            </p:cNvCxnSpPr>
            <p:nvPr/>
          </p:nvCxnSpPr>
          <p:spPr>
            <a:xfrm flipH="1">
              <a:off x="9024258" y="3786115"/>
              <a:ext cx="174168" cy="39011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39" name="Straight Arrow Connector 25"/>
            <p:cNvCxnSpPr>
              <a:cxnSpLocks/>
              <a:stCxn id="1048616" idx="2"/>
              <a:endCxn id="1048617" idx="0"/>
            </p:cNvCxnSpPr>
            <p:nvPr/>
          </p:nvCxnSpPr>
          <p:spPr>
            <a:xfrm>
              <a:off x="10025741" y="3118909"/>
              <a:ext cx="0" cy="389620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0" name="Straight Arrow Connector 26"/>
            <p:cNvCxnSpPr>
              <a:cxnSpLocks/>
              <a:endCxn id="1048616" idx="0"/>
            </p:cNvCxnSpPr>
            <p:nvPr/>
          </p:nvCxnSpPr>
          <p:spPr>
            <a:xfrm flipH="1">
              <a:off x="10025741" y="2266852"/>
              <a:ext cx="3064" cy="329543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1" name="Straight Arrow Connector 37"/>
            <p:cNvCxnSpPr>
              <a:cxnSpLocks/>
              <a:stCxn id="1048621" idx="4"/>
              <a:endCxn id="1048620" idx="2"/>
            </p:cNvCxnSpPr>
            <p:nvPr/>
          </p:nvCxnSpPr>
          <p:spPr>
            <a:xfrm>
              <a:off x="9024257" y="6002055"/>
              <a:ext cx="610282" cy="348272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2" name="Straight Arrow Connector 38"/>
            <p:cNvCxnSpPr>
              <a:cxnSpLocks/>
            </p:cNvCxnSpPr>
            <p:nvPr/>
          </p:nvCxnSpPr>
          <p:spPr>
            <a:xfrm flipH="1">
              <a:off x="9023914" y="5251387"/>
              <a:ext cx="342" cy="19549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3" name="Straight Arrow Connector 41"/>
            <p:cNvCxnSpPr>
              <a:cxnSpLocks/>
            </p:cNvCxnSpPr>
            <p:nvPr/>
          </p:nvCxnSpPr>
          <p:spPr>
            <a:xfrm>
              <a:off x="10853398" y="3786115"/>
              <a:ext cx="0" cy="703599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8622" name="TextBox 45"/>
            <p:cNvSpPr txBox="1"/>
            <p:nvPr/>
          </p:nvSpPr>
          <p:spPr>
            <a:xfrm>
              <a:off x="10853056" y="3981173"/>
              <a:ext cx="566050" cy="369332"/>
            </a:xfrm>
            <a:prstGeom prst="rect"/>
            <a:noFill/>
          </p:spPr>
          <p:txBody>
            <a:bodyPr rtlCol="0" wrap="square">
              <a:spAutoFit/>
            </a:bodyPr>
            <a:p>
              <a:r>
                <a:rPr b="1" dirty="0"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endParaRPr b="1" dirty="0" lang="en-I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extBox 1"/>
          <p:cNvSpPr txBox="1"/>
          <p:nvPr/>
        </p:nvSpPr>
        <p:spPr>
          <a:xfrm>
            <a:off x="315686" y="361315"/>
            <a:ext cx="8958943" cy="5847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32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Module 2: Quiz Engine and Automatic Evaluation</a:t>
            </a:r>
          </a:p>
        </p:txBody>
      </p:sp>
      <p:sp>
        <p:nvSpPr>
          <p:cNvPr id="1048624" name="TextBox 2"/>
          <p:cNvSpPr txBox="1"/>
          <p:nvPr/>
        </p:nvSpPr>
        <p:spPr>
          <a:xfrm>
            <a:off x="500743" y="1643743"/>
            <a:ext cx="7467600" cy="4613058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50000"/>
              </a:lnSpc>
            </a:pPr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quiz execution system and evaluate student performance automatically.</a:t>
            </a:r>
          </a:p>
          <a:p>
            <a:pPr>
              <a:lnSpc>
                <a:spcPct val="150000"/>
              </a:lnSpc>
            </a:pPr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Display quiz questions.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Accept user answers.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Implement timer (optional).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Calculate marks automatically.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grades.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Display correct answers.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oup 43"/>
          <p:cNvGrpSpPr/>
          <p:nvPr/>
        </p:nvGrpSpPr>
        <p:grpSpPr>
          <a:xfrm>
            <a:off x="9184819" y="424693"/>
            <a:ext cx="2321380" cy="6071992"/>
            <a:chOff x="8988876" y="534523"/>
            <a:chExt cx="2321380" cy="6071992"/>
          </a:xfrm>
        </p:grpSpPr>
        <p:sp>
          <p:nvSpPr>
            <p:cNvPr id="1048625" name="Oval 5"/>
            <p:cNvSpPr/>
            <p:nvPr/>
          </p:nvSpPr>
          <p:spPr>
            <a:xfrm>
              <a:off x="9587592" y="534523"/>
              <a:ext cx="1143000" cy="435428"/>
            </a:xfrm>
            <a:prstGeom prst="ellipse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Start</a:t>
              </a:r>
              <a:endParaRPr b="1" dirty="0" lang="en-IN"/>
            </a:p>
          </p:txBody>
        </p:sp>
        <p:sp>
          <p:nvSpPr>
            <p:cNvPr id="1048626" name="Oval 7"/>
            <p:cNvSpPr/>
            <p:nvPr/>
          </p:nvSpPr>
          <p:spPr>
            <a:xfrm>
              <a:off x="9568540" y="6171087"/>
              <a:ext cx="1143000" cy="435428"/>
            </a:xfrm>
            <a:prstGeom prst="ellipse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End</a:t>
              </a:r>
              <a:endParaRPr b="1" dirty="0" lang="en-IN"/>
            </a:p>
          </p:txBody>
        </p:sp>
        <p:sp>
          <p:nvSpPr>
            <p:cNvPr id="1048627" name="Flowchart: Process 8"/>
            <p:cNvSpPr/>
            <p:nvPr/>
          </p:nvSpPr>
          <p:spPr>
            <a:xfrm>
              <a:off x="9007927" y="1314871"/>
              <a:ext cx="2302329" cy="435428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Display Question</a:t>
              </a:r>
              <a:endParaRPr b="1" dirty="0" lang="en-IN"/>
            </a:p>
          </p:txBody>
        </p:sp>
        <p:sp>
          <p:nvSpPr>
            <p:cNvPr id="1048628" name="Flowchart: Data 9"/>
            <p:cNvSpPr/>
            <p:nvPr/>
          </p:nvSpPr>
          <p:spPr>
            <a:xfrm>
              <a:off x="9056913" y="2041350"/>
              <a:ext cx="2204358" cy="435428"/>
            </a:xfrm>
            <a:prstGeom prst="flowChartInputOutpu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sz="1600" lang="en-US"/>
                <a:t>Receive Ans</a:t>
              </a:r>
              <a:endParaRPr b="1" dirty="0" sz="1600" lang="en-IN"/>
            </a:p>
          </p:txBody>
        </p:sp>
        <p:sp>
          <p:nvSpPr>
            <p:cNvPr id="1048629" name="Flowchart: Process 11"/>
            <p:cNvSpPr/>
            <p:nvPr/>
          </p:nvSpPr>
          <p:spPr>
            <a:xfrm>
              <a:off x="8998402" y="4922355"/>
              <a:ext cx="2302329" cy="435428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Generate Grade</a:t>
              </a:r>
              <a:endParaRPr b="1" dirty="0" lang="en-IN"/>
            </a:p>
          </p:txBody>
        </p:sp>
        <p:sp>
          <p:nvSpPr>
            <p:cNvPr id="1048630" name="Flowchart: Process 13"/>
            <p:cNvSpPr/>
            <p:nvPr/>
          </p:nvSpPr>
          <p:spPr>
            <a:xfrm>
              <a:off x="8998402" y="4269213"/>
              <a:ext cx="2302329" cy="435428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Calculate Score</a:t>
              </a:r>
              <a:endParaRPr b="1" dirty="0" lang="en-IN"/>
            </a:p>
          </p:txBody>
        </p:sp>
        <p:sp>
          <p:nvSpPr>
            <p:cNvPr id="1048631" name="Flowchart: Process 15"/>
            <p:cNvSpPr/>
            <p:nvPr/>
          </p:nvSpPr>
          <p:spPr>
            <a:xfrm>
              <a:off x="8988876" y="3514844"/>
              <a:ext cx="2302329" cy="435428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Next Question</a:t>
              </a:r>
              <a:endParaRPr b="1" dirty="0" lang="en-IN"/>
            </a:p>
          </p:txBody>
        </p:sp>
        <p:sp>
          <p:nvSpPr>
            <p:cNvPr id="1048632" name="Flowchart: Process 17"/>
            <p:cNvSpPr/>
            <p:nvPr/>
          </p:nvSpPr>
          <p:spPr>
            <a:xfrm>
              <a:off x="8988876" y="2777190"/>
              <a:ext cx="2302329" cy="435428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Store Response</a:t>
              </a:r>
              <a:endParaRPr b="1" dirty="0" lang="en-IN"/>
            </a:p>
          </p:txBody>
        </p:sp>
        <p:sp>
          <p:nvSpPr>
            <p:cNvPr id="1048633" name="Flowchart: Data 19"/>
            <p:cNvSpPr/>
            <p:nvPr/>
          </p:nvSpPr>
          <p:spPr>
            <a:xfrm>
              <a:off x="9047387" y="5537129"/>
              <a:ext cx="2204358" cy="435428"/>
            </a:xfrm>
            <a:prstGeom prst="flowChartInputOutpu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sz="1400" lang="en-US"/>
                <a:t>Display Result</a:t>
              </a:r>
              <a:endParaRPr b="1" dirty="0" sz="1400" lang="en-IN"/>
            </a:p>
          </p:txBody>
        </p:sp>
        <p:cxnSp>
          <p:nvCxnSpPr>
            <p:cNvPr id="3145744" name="Straight Arrow Connector 21"/>
            <p:cNvCxnSpPr>
              <a:cxnSpLocks/>
              <a:stCxn id="1048625" idx="4"/>
              <a:endCxn id="1048627" idx="0"/>
            </p:cNvCxnSpPr>
            <p:nvPr/>
          </p:nvCxnSpPr>
          <p:spPr>
            <a:xfrm>
              <a:off x="10159092" y="969951"/>
              <a:ext cx="0" cy="344920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5" name="Straight Arrow Connector 23"/>
            <p:cNvCxnSpPr>
              <a:cxnSpLocks/>
              <a:endCxn id="1048628" idx="1"/>
            </p:cNvCxnSpPr>
            <p:nvPr/>
          </p:nvCxnSpPr>
          <p:spPr>
            <a:xfrm flipH="1">
              <a:off x="10159092" y="1711891"/>
              <a:ext cx="2720" cy="329459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6" name="Straight Arrow Connector 24"/>
            <p:cNvCxnSpPr>
              <a:cxnSpLocks/>
              <a:endCxn id="1048632" idx="0"/>
            </p:cNvCxnSpPr>
            <p:nvPr/>
          </p:nvCxnSpPr>
          <p:spPr>
            <a:xfrm flipH="1">
              <a:off x="10140041" y="2476778"/>
              <a:ext cx="19050" cy="300412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7" name="Straight Arrow Connector 25"/>
            <p:cNvCxnSpPr>
              <a:cxnSpLocks/>
              <a:stCxn id="1048629" idx="2"/>
              <a:endCxn id="1048633" idx="1"/>
            </p:cNvCxnSpPr>
            <p:nvPr/>
          </p:nvCxnSpPr>
          <p:spPr>
            <a:xfrm flipH="1">
              <a:off x="10149566" y="5357783"/>
              <a:ext cx="1" cy="17934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8" name="Straight Arrow Connector 26"/>
            <p:cNvCxnSpPr>
              <a:cxnSpLocks/>
              <a:endCxn id="1048631" idx="0"/>
            </p:cNvCxnSpPr>
            <p:nvPr/>
          </p:nvCxnSpPr>
          <p:spPr>
            <a:xfrm flipH="1">
              <a:off x="10140041" y="3212618"/>
              <a:ext cx="9525" cy="30222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49" name="Straight Arrow Connector 27"/>
            <p:cNvCxnSpPr>
              <a:cxnSpLocks/>
              <a:stCxn id="1048631" idx="2"/>
              <a:endCxn id="1048630" idx="0"/>
            </p:cNvCxnSpPr>
            <p:nvPr/>
          </p:nvCxnSpPr>
          <p:spPr>
            <a:xfrm>
              <a:off x="10140041" y="3950272"/>
              <a:ext cx="9526" cy="318941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50" name="Straight Arrow Connector 28"/>
            <p:cNvCxnSpPr>
              <a:cxnSpLocks/>
              <a:stCxn id="1048630" idx="2"/>
              <a:endCxn id="1048629" idx="0"/>
            </p:cNvCxnSpPr>
            <p:nvPr/>
          </p:nvCxnSpPr>
          <p:spPr>
            <a:xfrm>
              <a:off x="10149567" y="4704641"/>
              <a:ext cx="0" cy="217714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51" name="Straight Arrow Connector 33"/>
            <p:cNvCxnSpPr>
              <a:cxnSpLocks/>
            </p:cNvCxnSpPr>
            <p:nvPr/>
          </p:nvCxnSpPr>
          <p:spPr>
            <a:xfrm>
              <a:off x="10140041" y="5972557"/>
              <a:ext cx="9525" cy="198530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extBox 1"/>
          <p:cNvSpPr txBox="1"/>
          <p:nvPr/>
        </p:nvSpPr>
        <p:spPr>
          <a:xfrm>
            <a:off x="457200" y="609600"/>
            <a:ext cx="6901543" cy="830997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b="1" dirty="0" sz="2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Result Management and Performance Analysis</a:t>
            </a:r>
          </a:p>
        </p:txBody>
      </p:sp>
      <p:sp>
        <p:nvSpPr>
          <p:cNvPr id="1048635" name="TextBox 2"/>
          <p:cNvSpPr txBox="1"/>
          <p:nvPr/>
        </p:nvSpPr>
        <p:spPr>
          <a:xfrm>
            <a:off x="468086" y="1861457"/>
            <a:ext cx="6934200" cy="3782061"/>
          </a:xfrm>
          <a:prstGeom prst="rect"/>
          <a:noFill/>
        </p:spPr>
        <p:txBody>
          <a:bodyPr rtlCol="0" wrap="square">
            <a:spAutoFit/>
          </a:bodyPr>
          <a:p>
            <a:pPr>
              <a:lnSpc>
                <a:spcPct val="150000"/>
              </a:lnSpc>
            </a:pPr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Store quiz results permanently and analyse student performance.</a:t>
            </a:r>
          </a:p>
          <a:p>
            <a:pPr>
              <a:lnSpc>
                <a:spcPct val="150000"/>
              </a:lnSpc>
            </a:pPr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Save scores into files.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Generate result reports.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Create leaderboard.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Display highest score.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Show previous attempts. </a:t>
            </a:r>
          </a:p>
          <a:p>
            <a:pPr indent="-285750"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Calculate average marks.</a:t>
            </a:r>
          </a:p>
        </p:txBody>
      </p:sp>
      <p:grpSp>
        <p:nvGrpSpPr>
          <p:cNvPr id="38" name="Group 25"/>
          <p:cNvGrpSpPr/>
          <p:nvPr/>
        </p:nvGrpSpPr>
        <p:grpSpPr>
          <a:xfrm>
            <a:off x="8730342" y="947057"/>
            <a:ext cx="2024744" cy="5227537"/>
            <a:chOff x="8730342" y="947057"/>
            <a:chExt cx="2024744" cy="5227537"/>
          </a:xfrm>
        </p:grpSpPr>
        <p:sp>
          <p:nvSpPr>
            <p:cNvPr id="1048636" name="Oval 5"/>
            <p:cNvSpPr/>
            <p:nvPr/>
          </p:nvSpPr>
          <p:spPr>
            <a:xfrm>
              <a:off x="9067800" y="947057"/>
              <a:ext cx="1338943" cy="493540"/>
            </a:xfrm>
            <a:prstGeom prst="ellipse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Start</a:t>
              </a:r>
              <a:endParaRPr b="1" dirty="0" lang="en-IN"/>
            </a:p>
          </p:txBody>
        </p:sp>
        <p:sp>
          <p:nvSpPr>
            <p:cNvPr id="1048637" name="Flowchart: Data 6"/>
            <p:cNvSpPr/>
            <p:nvPr/>
          </p:nvSpPr>
          <p:spPr>
            <a:xfrm>
              <a:off x="8741229" y="1734233"/>
              <a:ext cx="2013857" cy="493540"/>
            </a:xfrm>
            <a:prstGeom prst="flowChartInputOutpu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Receive Score</a:t>
              </a:r>
              <a:endParaRPr b="1" dirty="0" lang="en-IN"/>
            </a:p>
          </p:txBody>
        </p:sp>
        <p:sp>
          <p:nvSpPr>
            <p:cNvPr id="1048638" name="Flowchart: Data 8"/>
            <p:cNvSpPr/>
            <p:nvPr/>
          </p:nvSpPr>
          <p:spPr>
            <a:xfrm>
              <a:off x="8730342" y="4714264"/>
              <a:ext cx="2013857" cy="493540"/>
            </a:xfrm>
            <a:prstGeom prst="flowChartInputOutput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sz="1400" lang="en-US"/>
                <a:t>Display Leaderboard</a:t>
              </a:r>
              <a:endParaRPr b="1" dirty="0" sz="1400" lang="en-IN"/>
            </a:p>
          </p:txBody>
        </p:sp>
        <p:sp>
          <p:nvSpPr>
            <p:cNvPr id="1048639" name="Flowchart: Process 9"/>
            <p:cNvSpPr/>
            <p:nvPr/>
          </p:nvSpPr>
          <p:spPr>
            <a:xfrm>
              <a:off x="8730342" y="2554264"/>
              <a:ext cx="1905000" cy="696686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Save Result</a:t>
              </a:r>
              <a:endParaRPr b="1" dirty="0" lang="en-IN"/>
            </a:p>
          </p:txBody>
        </p:sp>
        <p:sp>
          <p:nvSpPr>
            <p:cNvPr id="1048640" name="Flowchart: Process 11"/>
            <p:cNvSpPr/>
            <p:nvPr/>
          </p:nvSpPr>
          <p:spPr>
            <a:xfrm>
              <a:off x="8741229" y="3623981"/>
              <a:ext cx="1905000" cy="696686"/>
            </a:xfrm>
            <a:prstGeom prst="flowChartProcess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Generate Report</a:t>
              </a:r>
              <a:endParaRPr b="1" dirty="0" lang="en-IN"/>
            </a:p>
          </p:txBody>
        </p:sp>
        <p:sp>
          <p:nvSpPr>
            <p:cNvPr id="1048641" name="Oval 13"/>
            <p:cNvSpPr/>
            <p:nvPr/>
          </p:nvSpPr>
          <p:spPr>
            <a:xfrm>
              <a:off x="9089570" y="5681054"/>
              <a:ext cx="1338943" cy="493540"/>
            </a:xfrm>
            <a:prstGeom prst="ellipse"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 rtlCol="0"/>
            <a:p>
              <a:pPr algn="ctr"/>
              <a:r>
                <a:rPr b="1" dirty="0" lang="en-US"/>
                <a:t>End</a:t>
              </a:r>
              <a:endParaRPr b="1" dirty="0" lang="en-IN"/>
            </a:p>
          </p:txBody>
        </p:sp>
        <p:cxnSp>
          <p:nvCxnSpPr>
            <p:cNvPr id="3145752" name="Straight Arrow Connector 15"/>
            <p:cNvCxnSpPr>
              <a:cxnSpLocks/>
              <a:stCxn id="1048636" idx="4"/>
              <a:endCxn id="1048637" idx="1"/>
            </p:cNvCxnSpPr>
            <p:nvPr/>
          </p:nvCxnSpPr>
          <p:spPr>
            <a:xfrm>
              <a:off x="9737272" y="1440597"/>
              <a:ext cx="10886" cy="29363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53" name="Straight Arrow Connector 17"/>
            <p:cNvCxnSpPr>
              <a:cxnSpLocks/>
            </p:cNvCxnSpPr>
            <p:nvPr/>
          </p:nvCxnSpPr>
          <p:spPr>
            <a:xfrm>
              <a:off x="9748157" y="2241271"/>
              <a:ext cx="10886" cy="293636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54" name="Straight Arrow Connector 18"/>
            <p:cNvCxnSpPr>
              <a:cxnSpLocks/>
              <a:stCxn id="1048639" idx="2"/>
              <a:endCxn id="1048640" idx="0"/>
            </p:cNvCxnSpPr>
            <p:nvPr/>
          </p:nvCxnSpPr>
          <p:spPr>
            <a:xfrm>
              <a:off x="9682842" y="3250950"/>
              <a:ext cx="10887" cy="373031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55" name="Straight Arrow Connector 19"/>
            <p:cNvCxnSpPr>
              <a:cxnSpLocks/>
              <a:endCxn id="1048638" idx="1"/>
            </p:cNvCxnSpPr>
            <p:nvPr/>
          </p:nvCxnSpPr>
          <p:spPr>
            <a:xfrm flipH="1">
              <a:off x="9737271" y="4307477"/>
              <a:ext cx="10886" cy="406787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5756" name="Straight Arrow Connector 23"/>
            <p:cNvCxnSpPr>
              <a:cxnSpLocks/>
              <a:endCxn id="1048641" idx="0"/>
            </p:cNvCxnSpPr>
            <p:nvPr/>
          </p:nvCxnSpPr>
          <p:spPr>
            <a:xfrm>
              <a:off x="9759041" y="5207804"/>
              <a:ext cx="1" cy="473250"/>
            </a:xfrm>
            <a:prstGeom prst="straightConnector1"/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 txBox="1"/>
          <p:nvPr/>
        </p:nvSpPr>
        <p:spPr>
          <a:xfrm>
            <a:off x="1524000" y="470191"/>
            <a:ext cx="9144000" cy="1096547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3" name="Subtitle 2"/>
          <p:cNvSpPr txBox="1"/>
          <p:nvPr/>
        </p:nvSpPr>
        <p:spPr>
          <a:xfrm>
            <a:off x="758225" y="1750692"/>
            <a:ext cx="10675550" cy="4732493"/>
          </a:xfrm>
          <a:prstGeom prst="rect"/>
        </p:spPr>
        <p:txBody>
          <a:bodyPr>
            <a:normAutofit/>
          </a:bodyPr>
          <a:lstStyle>
            <a:lvl1pPr algn="l" defTabSz="914400" eaLnBrk="1" hangingPunct="1" indent="-182880" latinLnBrk="0" marL="228600" rtl="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182880" latinLnBrk="0" marL="4572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182880" latinLnBrk="0" marL="73152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182880" latinLnBrk="0" marL="100584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182880" latinLnBrk="0" marL="128016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16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19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22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25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 Scores: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Check how much each user scored in the quiz.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Average Score: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average score of all users for a quiz.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Top Scorers: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Find out who got the highest scores</a:t>
            </a: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Most Attempted Quiz: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See which quiz was taken by the most users.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Question Accuracy: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Check which questions most users got right or wrong.</a:t>
            </a:r>
          </a:p>
          <a:p>
            <a:pPr indent="-342900" marL="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b="1"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 Improvement: </a:t>
            </a:r>
            <a:r>
              <a:rPr dirty="0" sz="20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Compare a user's old and new scores to see if they are improving.</a:t>
            </a:r>
            <a:endParaRPr b="1" dirty="0" sz="2000" lang="en-IN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4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0826069" y="374815"/>
            <a:ext cx="810760" cy="914400"/>
          </a:xfrm>
          <a:prstGeom prst="rect"/>
          <a:noFill/>
        </p:spPr>
      </p:pic>
      <p:pic>
        <p:nvPicPr>
          <p:cNvPr id="2097165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329557" y="410160"/>
            <a:ext cx="909638" cy="900113"/>
          </a:xfrm>
          <a:prstGeom prst="rect"/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 txBox="1"/>
          <p:nvPr/>
        </p:nvSpPr>
        <p:spPr>
          <a:xfrm>
            <a:off x="1524000" y="501458"/>
            <a:ext cx="9144000" cy="1096547"/>
          </a:xfrm>
          <a:prstGeom prst="rect"/>
        </p:spPr>
        <p:txBody>
          <a:bodyPr>
            <a:normAutofit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6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1070771" y="316400"/>
            <a:ext cx="827466" cy="914400"/>
          </a:xfrm>
          <a:prstGeom prst="rect"/>
          <a:noFill/>
        </p:spPr>
      </p:pic>
      <p:pic>
        <p:nvPicPr>
          <p:cNvPr id="2097167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293763" y="316400"/>
            <a:ext cx="909638" cy="900113"/>
          </a:xfrm>
          <a:prstGeom prst="rect"/>
          <a:noFill/>
        </p:spPr>
      </p:pic>
      <p:sp>
        <p:nvSpPr>
          <p:cNvPr id="1048645" name="TextBox 7"/>
          <p:cNvSpPr txBox="1"/>
          <p:nvPr/>
        </p:nvSpPr>
        <p:spPr>
          <a:xfrm>
            <a:off x="478971" y="1239491"/>
            <a:ext cx="11212286" cy="5444054"/>
          </a:xfrm>
          <a:prstGeom prst="rect"/>
          <a:noFill/>
        </p:spPr>
        <p:txBody>
          <a:bodyPr rtlCol="0" wrap="square">
            <a:spAutoFit/>
          </a:bodyPr>
          <a:p>
            <a:pPr algn="just" indent="-342900" marL="342900">
              <a:lnSpc>
                <a:spcPct val="150000"/>
              </a:lnSpc>
              <a:buFont typeface="+mj-lt"/>
              <a:buAutoNum type="arabicPeriod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M. Ashfaque, K. Selot, M. Siddique, M. Fakih, and H. </a:t>
            </a:r>
            <a:r>
              <a:rPr dirty="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Khhan</a:t>
            </a: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"Online Quiz," Journal of Emerging Technologies and Innovative Research (JETIR), vol. 9, no. 10, Oct. 2022.</a:t>
            </a:r>
          </a:p>
          <a:p>
            <a:pPr algn="just" indent="-342900" marL="342900">
              <a:lnSpc>
                <a:spcPct val="150000"/>
              </a:lnSpc>
              <a:buFont typeface="+mj-lt"/>
              <a:buAutoNum type="arabicPeriod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A. W. Muzaffar, M. Tahir, M. W. Anwar, Q. Chaudry, S. R. Mir, and Y. Rasheed, "A Systematic Review of Online Exams Solutions in E-Learning: Techniques, Tools, and Global Adoption," IEEE Access, vol. 9, pp. 32689–32712, 2021. </a:t>
            </a:r>
          </a:p>
          <a:p>
            <a:pPr algn="just" indent="-342900" marL="342900">
              <a:lnSpc>
                <a:spcPct val="150000"/>
              </a:lnSpc>
              <a:buFont typeface="+mj-lt"/>
              <a:buAutoNum type="arabicPeriod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"The Research and Design of Online Examination System," IEEE Conference Publication. </a:t>
            </a:r>
          </a:p>
          <a:p>
            <a:pPr algn="just" indent="-342900" marL="342900">
              <a:lnSpc>
                <a:spcPct val="150000"/>
              </a:lnSpc>
              <a:buFont typeface="+mj-lt"/>
              <a:buAutoNum type="arabicPeriod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dirty="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Mutiawani</a:t>
            </a: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N. Amrin, K. Saputra, et al., "Developing a Desktop-Based Offline Quiz Application," in Proceedings of the 2020 IEEE Conference on e-Learning, e-Management and e-Services (IC3e), Kota Kinabalu, Malaysia, 2020, pp. 98–103. </a:t>
            </a:r>
          </a:p>
          <a:p>
            <a:pPr algn="just" indent="-342900" marL="342900">
              <a:lnSpc>
                <a:spcPct val="150000"/>
              </a:lnSpc>
              <a:buFont typeface="+mj-lt"/>
              <a:buAutoNum type="arabicPeriod"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C. Chan, C. Zhao, W. T. Chau, Y. Zhou, et al., "E-Quiz: Empowering Educators with a Self-Contained and Programmable Online Exam System," in Proceedings of the 2023 IEEE International Conference on Teaching, Assessment and Learning for Engineering (TALE), 2023. </a:t>
            </a:r>
          </a:p>
          <a:p>
            <a:pPr algn="just" indent="-342900" marL="342900">
              <a:lnSpc>
                <a:spcPct val="150000"/>
              </a:lnSpc>
              <a:buFont typeface="+mj-lt"/>
              <a:buAutoNum type="arabicPeriod"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ctrTitle"/>
          </p:nvPr>
        </p:nvSpPr>
        <p:spPr>
          <a:xfrm>
            <a:off x="1533993" y="2592161"/>
            <a:ext cx="9144000" cy="1096547"/>
          </a:xfrm>
        </p:spPr>
        <p:txBody>
          <a:bodyPr>
            <a:normAutofit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8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1084190" y="376953"/>
            <a:ext cx="712788" cy="914400"/>
          </a:xfrm>
          <a:prstGeom prst="rect"/>
          <a:noFill/>
        </p:spPr>
      </p:pic>
      <p:pic>
        <p:nvPicPr>
          <p:cNvPr id="2097169" name="Picture 3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491190" y="486828"/>
            <a:ext cx="909638" cy="900113"/>
          </a:xfrm>
          <a:prstGeom prst="rect"/>
          <a:noFill/>
        </p:spPr>
      </p:pic>
      <p:sp>
        <p:nvSpPr>
          <p:cNvPr id="1048653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r="5400000" dist="254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dir="t" rig="brightRoom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Rajesh kumar Thevasigamani</dc:creator>
  <cp:lastModifiedBy>AVS SANTHOSH RK MURTHY</cp:lastModifiedBy>
  <dcterms:created xsi:type="dcterms:W3CDTF">2025-03-18T19:12:05Z</dcterms:created>
  <dcterms:modified xsi:type="dcterms:W3CDTF">2026-07-29T04:56:50Z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000b3cdf89ee4214869af7caca66a84c_23</vt:lpwstr>
  </property>
</Properties>
</file>